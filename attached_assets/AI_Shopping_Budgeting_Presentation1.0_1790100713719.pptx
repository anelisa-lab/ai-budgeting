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572000"/>
            <a:ext cx="5029200" cy="502920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DUT  •  FACULTY OF ACCOUNTING AND INFORMATICS  •  SODM401 / SFEN301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Making Informed Shopping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 &amp; System Design for NSFAS-Funded Student Budgeting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640080" cy="45720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1  |  Group Number: ____________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01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9514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295144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Existing Challenges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29514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072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80720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8072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05–07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192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3192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3192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3133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83133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88536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434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3434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34340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554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855464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485546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312664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3675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536752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&amp; User Requirements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536752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12–14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824728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7830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178308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744200" y="178308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15–16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2240280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29514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560" y="2295144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744200" y="229514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63640" y="2752344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8072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6560" y="280720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Standout System Features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744200" y="28072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18–19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63640" y="3264408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3192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66560" y="331927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744200" y="33192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63640" y="3776472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83133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66560" y="3831336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Management &amp; Mitigation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744200" y="383133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63640" y="4288536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3434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66560" y="43434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744200" y="434340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63640" y="4800600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485546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66560" y="4855464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744200" y="4855464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63640" y="5312664"/>
            <a:ext cx="5212080" cy="0"/>
          </a:xfrm>
          <a:prstGeom prst="line">
            <a:avLst/>
          </a:prstGeom>
          <a:noFill/>
          <a:ln w="9525">
            <a:solidFill>
              <a:srgbClr val="C9E2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students who rely on a periodic funding stream, such as South Africa's NSFAS scheme, must convert a single lump-sum allowance into continuous daily budgeting decisions across the semester. Their financial stability is shaped less by how much funding they receive than by how they manage and allocate it — making student budgeting behaviour, and the outcomes of specific budgeting practices, an active field of international study.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NSFAS-funded students, financial behaviour — not funding level — determines whether the allowance lasts the full disbursement cycle.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1737360"/>
            <a:ext cx="4206240" cy="4343400"/>
          </a:xfrm>
          <a:prstGeom prst="roundRect">
            <a:avLst>
              <a:gd name="adj" fmla="val 1739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BUDGETING CHALLENGE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2468880"/>
            <a:ext cx="502920" cy="50292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412480" y="2450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Lump-Sum Allowance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7706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NSFAS disbursement received per 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8140" y="2971800"/>
            <a:ext cx="0" cy="502920"/>
          </a:xfrm>
          <a:prstGeom prst="line">
            <a:avLst/>
          </a:prstGeom>
          <a:noFill/>
          <a:ln w="19050">
            <a:solidFill>
              <a:srgbClr val="1C9C8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26680" y="3703320"/>
            <a:ext cx="502920" cy="50292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12480" y="3685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Decisions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0050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Dozens of spending choices made before next payout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78140" y="4206240"/>
            <a:ext cx="0" cy="502920"/>
          </a:xfrm>
          <a:prstGeom prst="line">
            <a:avLst/>
          </a:prstGeom>
          <a:noFill/>
          <a:ln w="19050">
            <a:solidFill>
              <a:srgbClr val="1C9C8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26680" y="4937760"/>
            <a:ext cx="502920" cy="50292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412480" y="4919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 Gap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52395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depends on budgeting behaviour, not amount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Existing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Financial Literacy &amp; Budget Control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NSFAS allowances are hard to split across fixed costs (rent, food, materials) and variable spending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real-time tracking means students can't see how daily purchases affect their remaining allowance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Inefficient Price Comparison &amp; High Search Costs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24963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Manually comparing prices, delivery fees and availability across sites and stores within a 25km radius is slow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 shipping fees and multi-vendor charges make total costs unclear upfront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Irrelevant Personalisation &amp; Decision Fatigue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7823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shopping sites bombard students with irrelevant items to sift through manually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engines ignore strict budget limits, past buying habits and personal preferences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206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160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Geographic &amp; Logistics Constraints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29400" y="47823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Filtering products by proximity is difficult, leading to unexpected delivery delays or shipping costs that outweigh product price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Methodologies in the Reviewed Studies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 studies on student budgeting behaviour and financial decision-support systems were reviewed. Quantitative survey methods dominate the field, appearing in five of the seven studies.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94415" cy="384048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514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93008" y="2514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/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93408" y="2514600"/>
            <a:ext cx="48764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Methodological Approach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E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9864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Masuku (2025)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289864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358 SA university students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93408" y="2898648"/>
            <a:ext cx="48582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stats, Welch's ANOVA, Pearson/Spearman correlations, chi-square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94415" cy="566928"/>
          </a:xfrm>
          <a:prstGeom prst="rect">
            <a:avLst/>
          </a:prstGeom>
          <a:solidFill>
            <a:srgbClr val="E7F3F1"/>
          </a:solidFill>
          <a:ln w="9525">
            <a:solidFill>
              <a:srgbClr val="C9E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65576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(2025)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3465576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105 Helsinki university students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93408" y="3465576"/>
            <a:ext cx="48582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statistics and chi-square testing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E2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32504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Xie et al. (2026)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4032504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305 university students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93408" y="4032504"/>
            <a:ext cx="48582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clustering, chi-square tests, t-tests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99432"/>
            <a:ext cx="11094415" cy="566928"/>
          </a:xfrm>
          <a:prstGeom prst="rect">
            <a:avLst/>
          </a:prstGeom>
          <a:solidFill>
            <a:srgbClr val="E7F3F1"/>
          </a:solidFill>
          <a:ln w="9525">
            <a:solidFill>
              <a:srgbClr val="C9E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59943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Rodríguez-Correa et al. (2025)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4599432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 peer-reviewed publications (Scopus/WoS)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4599432"/>
            <a:ext cx="48582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Systematic review — bibliometric &amp; thematic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E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166360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Pancholi et al. (2026)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93008" y="5166360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transaction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93408" y="5166360"/>
            <a:ext cx="48582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demographic modelling &amp; CTGAN; ~60% directional accuracy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Sources &amp; 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019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7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studies drew data from university student cohorts (questionnaire samples)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019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studies used student behavioural statistics as their key performance measure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413455" cy="1828800"/>
          </a:xfrm>
          <a:prstGeom prst="roundRect">
            <a:avLst>
              <a:gd name="adj" fmla="val 4000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58200" y="1938528"/>
            <a:ext cx="457200" cy="45720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514600"/>
            <a:ext cx="2956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Pancholi et al. (2026) applies AI — and only to investment price prediction, not everyday student budgeting.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041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07408"/>
            <a:ext cx="1054577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reviewed literature focuses heavily on studying financial behaviour through self-report and survey instruments, rather than building systems that give students real-time budgeting or purchasing assistance. Sampling and generalisation bias appears in five studies, and self-report/recall bias in four — both consequences of relying on retrospective survey data instead of systems that capture real, transactional behaviour as it happens.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Study Selection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Identified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938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Sampling / generalisability bias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931920" cy="38404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48840"/>
            <a:ext cx="3931920" cy="384048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21214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 &amp; recall bias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3931920" cy="38404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25496"/>
            <a:ext cx="3145536" cy="384048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279806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Search-scope boundaries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3931920" cy="38404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02152"/>
            <a:ext cx="786384" cy="384048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17" name="Text 15"/>
          <p:cNvSpPr/>
          <p:nvPr/>
        </p:nvSpPr>
        <p:spPr>
          <a:xfrm>
            <a:off x="1408176" y="3474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limitations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3931920" cy="38404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78808"/>
            <a:ext cx="786384" cy="384048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21" name="Text 19"/>
          <p:cNvSpPr/>
          <p:nvPr/>
        </p:nvSpPr>
        <p:spPr>
          <a:xfrm>
            <a:off x="1408176" y="41513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Study Selection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21488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2267712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2267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6766560" y="21488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Articles identified (IEEE Xplore)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953512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3072384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9" name="Text 27"/>
          <p:cNvSpPr/>
          <p:nvPr/>
        </p:nvSpPr>
        <p:spPr>
          <a:xfrm>
            <a:off x="6199632" y="3072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6766560" y="29535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Screened by title &amp; abstract (3 excluded — unrelated)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3758184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877056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6766560" y="37581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Assessed for eligibility (0 excluded)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4562856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4681728"/>
            <a:ext cx="438912" cy="438912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4681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40" dirty="0"/>
          </a:p>
        </p:txBody>
      </p:sp>
      <p:sp>
        <p:nvSpPr>
          <p:cNvPr id="38" name="Text 36"/>
          <p:cNvSpPr/>
          <p:nvPr/>
        </p:nvSpPr>
        <p:spPr>
          <a:xfrm>
            <a:off x="6766560" y="456285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Studies included in review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Systems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30998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Masuku (2025), Le (2025) and Xie et al. (2026) each show that a student's chosen budgeting method affects their financial outcome — but none design, build or evaluate an intelligent system that helps students make better decisions in real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993392"/>
            <a:ext cx="502920" cy="50292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36592" y="265176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Technological Application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3337560"/>
            <a:ext cx="30998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Pancholi et al. (2026) proves AI-based financial decision-support is feasible (~60% directional accuracy) — but only for investment choices. No equivalent AI application exists for the daily budgeting and purchasing decisions of NSFAS-funded students.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68512" y="1993392"/>
            <a:ext cx="502920" cy="50292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866851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68512" y="265176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Methodological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68512" y="3337560"/>
            <a:ext cx="30998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of the seven reviewed studies rely on survey responses, which are prone to self-report and recall bias. No research is grounded in real-time transactional data from active users of a budgeting and shopping assistance system.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Together, these gaps show that no existing research combines real-time budget tracking, AI-assisted comparative shopping and objective transactional data into one system for NSFAS-funded students — the combination this study proposes to address.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3152" cy="4206240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NSFAS-funded university students lack access to a comprehensive, intelligent system that combines real-time budget tracking with AI-assisted comparative shopping to support their spending decisions across the NSFAS disbursement cycle.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literature offers substantial evidence on how budgeting habits and tools affect students' financial outcomes, and separately demonstrates the feasibility of AI-based financial decision-support. However, no research combines these two concepts into a single, real-time system grounded in objective transactional data rather than self-reported survey data. This study proposes to design and evaluate such a system — directly addressing the applied, technological and methodological gaps identified in the literature.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Scope: Boundaries &amp; Clarity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Student-focused budgeting and shopping functions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registration and authentication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Entering and tracking a monthly budget / shopping allowance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 products using natural language and keywords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Filtering by price, colour, size, brand, store, shipping, location &amp; availability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 and comparing products from multiple sources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product recommendations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Personalising recommendations using shopping history &amp; preferences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Displaying information to support informed purchase decisions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993392"/>
            <a:ext cx="457200" cy="457200"/>
          </a:xfrm>
          <a:prstGeom prst="ellipse">
            <a:avLst/>
          </a:prstGeom>
          <a:solidFill>
            <a:srgbClr val="B9821F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 payments for products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Acting as a bank or replacing a student's banking app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Offering loans, credit or other financial services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Guaranteeing availability, delivery times or prices from external stores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Managing NSFAS funding or determining NSFAS policies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Replacing certified financial advisors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Taking control of the purchasing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Identifying Stakeholders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7332F"/>
          </a:solidFill>
          <a:ln w="12700">
            <a:solidFill>
              <a:srgbClr val="C9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E3A9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STAKEHOLDER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084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/ End Users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1828800"/>
            <a:ext cx="6065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their budget, location and preferences, and receive personalised product recommendations from the system.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STAKEHOLDERS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Supply product prices, availability &amp; details used to generate recommendations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&amp; Physical Stores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8130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 from having products promoted to nearby students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3337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&amp; Shipping Providers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8130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time and shipping cost influence which products get recommended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892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Administrators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230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technical operation, user accounts and system settings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7548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4892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&amp; Recommendation Providers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5230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Supply the models, APIs and analytics that generate tailored suggestions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47548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0" y="4892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&amp; Data Providers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5230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descriptions, prices, ratings and store locations used by the system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38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325880" y="1883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Allowance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 students systematically budget and allocate their monthly allowance to prevent deficits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193852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938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6995160" y="1883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time and effort when searching and comparing products between stores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44728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325880" y="33924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Transparency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 students understand the true cost of a purchase, including delivery and other add-ons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344728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6995160" y="33924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Prioritisation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37490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Maximise purchasing utility under financial constraints by sorting results to the user's budget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95604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956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1325880" y="49011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Cognitive Overload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5257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 only relevant products instead of pages of unfiltered search results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4956048"/>
            <a:ext cx="438912" cy="438912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4956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6995160" y="49011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Personalisation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257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AI to tailor the experience and help students make wiser, more reflective choices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810512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Onboarding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737360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an account and log in securely; manage personal profile details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1094415" cy="56692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77440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143000" y="23042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Budget Input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304288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a monthly or available shopping budget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2944368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143000" y="28712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Conversational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871216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for items using natural-language commands (e.g. “find me a laptop under R8,000”)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11094415" cy="56692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511296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143000" y="34381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Multi-Criteria Filtering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3438144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by price, colour, size, brand, store, shipping cost, location and availability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4078224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1143000" y="40050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Cross-Source Comparison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4005072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product specifications and pricing across multiple online retailers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094415" cy="566928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4645152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1143000" y="45720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Cost Estimation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4572000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a real-time total price estimate (base price + shipping) before buying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" y="5212080"/>
            <a:ext cx="384048" cy="384048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1143000" y="51389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Personalisation Profile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5138928"/>
            <a:ext cx="7619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shopping history, past searches and explicit preferences to refine future recommendations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 &amp; Quantitative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to understand for users with varying financial literacy levels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interface, easy to navigate, information displayed clearly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 tailored to each user, not general popular items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impact on remaining allowance displayed clearly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provided for recommendations wherever possible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Inclusive of different spending, shopping and financial abilities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Quantitative / Measurable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searches return results within ≈ 3 seconds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recommendations delivered within ≈ 5 seconds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cover at least price, colour, size, brand, store, shipping, location &amp; availability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Accommodates budgets up to R25,000, as stated in the project brief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Searches multiple sources, not just one store</a:t>
            </a:r>
            <a:endParaRPr lang="en-US" sz="120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24/7, excluding necessary maintenance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(1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Account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register an account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registered users to log in and log out securely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authenticated users to manage profile and shopping preferences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884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enter and update a monthly or available shopping budget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remaining budget after a selected/planned purchase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Warn users when a selected product exceeds their stated budget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monitor spending against their available budget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4788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Search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4788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searches using keywords and natural-language descriptions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 shopping constraints from a search, including budget and product characteristics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Compile, generate and display products matching the search criteria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(2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Filtering &amp; Comparison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results by price, colour, size, brand, store, shipping cost, location and availability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price, seller/store, availability and shipping information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compare suitable products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Calculate/display total cost, including shipping where available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884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 products based on the user's budget and stated preferences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previous buying/shopping history to improve recommendations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information from multiple product sources when recommending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Prioritise products meeting user requirements over general popularity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47888" y="1883664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Shopping History &amp; Preferences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47888" y="2304288"/>
            <a:ext cx="3118104" cy="0"/>
          </a:xfrm>
          <a:prstGeom prst="line">
            <a:avLst/>
          </a:prstGeom>
          <a:noFill/>
          <a:ln w="12700">
            <a:solidFill>
              <a:srgbClr val="1C9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423160"/>
            <a:ext cx="311810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relevant shopping history for recommendation purposes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 users to save, update or delete product preferences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historical information to improve future searches and recommendations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0195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search ≈ 3s; AI recommendations ≈ 5s response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0195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5120640" y="1874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33172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availability except for planned maintenance and unavoidable outages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190195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9006840" y="1874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233172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interface usable without specialised technical knowledge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4787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123444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97764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Readable text, clear labels; key info not colour-dependent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33832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54787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512064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397764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 data and personal data protected; history used only for authorised functions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3832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354787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900684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397764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invalid searches / unavailable sources without crashing; gives clear feedback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193792"/>
            <a:ext cx="384048" cy="384048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1234440" y="5166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5623560"/>
            <a:ext cx="32918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design so sources, recommendation logic and filters update independently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Standout Features: Budget Protection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Spend Log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a purchase within seconds; the app auto-assigns a spending category, reducing reliance on memory.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Budget Split (Stretch My Allowance)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works out how much a student may spend per day, so the allowance lasts until the next payout.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 Week Mode (Survival Mode)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4788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Detects when the daily limit drops below a survival threshold and restricts recommendations to essentials, nearby 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25196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215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No-Data Mode (SMS Budget Alerts)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484632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low-data, USSD/SMS-style path delivering balance, daily limit and low-balance warnings to students without smartphone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25196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4215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Savings (Save-a-Percentage)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98848" y="484632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sets aside a chosen percentage of each allowance into a separate savings balance before the daily split is calculated.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Standout Features: Shopping &amp; Community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Recommendation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product/store recommendations that fit the student's stated budget using rule-based filtering (price, distance, category).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Nearby Store (Closest Store &amp; Directions)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Recommends the nearest store carrying a searched item and provides directions within a user-set search radius.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92024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1883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Res-Mate Bulk-Buy Matching (Buy-Together Deals)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47888" y="251460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Matches nearby students wanting the same item so they can pool orders and share bulk pricing.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25196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215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 Spending Comparison (How I Compare)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484632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Aggregates anonymised residence-level spend data so a student can see how their spending compares, without exposing individual records.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251960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4215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Cooling-Off Period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98848" y="4846320"/>
            <a:ext cx="31181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non-essential purchases above a set amount, delays the purchase 24 hours and shows what else that money could do — a value-add design feature.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#10 is a value-add design addition (not literature-derived).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 (UML)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pic>
        <p:nvPicPr>
          <p:cNvPr id="6" name="Image 0" descr="/home/claude/deck/usecase_hq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10512"/>
            <a:ext cx="10820095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Management &amp; Mitigation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72768"/>
            <a:ext cx="11094415" cy="329184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20440" y="1572768"/>
            <a:ext cx="1527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0" y="1572768"/>
            <a:ext cx="63578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&amp; Mitigation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11094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Incorrect budget calculations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90195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90195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could exceed budget/run out of allowance; system must test budget logic and recalculate limits when transactions are recorded.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04872"/>
            <a:ext cx="11094415" cy="50292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0487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40487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40487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Updates could be time-consuming and introduce errors; use a modular architecture so components can update independently.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907792"/>
            <a:ext cx="11094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779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Incorrect AI recommendations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90779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Recommendation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90779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may overspend; system must apply filtering rules on price/category and test recommendation results.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10712"/>
            <a:ext cx="11094415" cy="50292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1071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Outdated product/price info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341071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Retailer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341071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shown unavailable or unaffordable products; regularly update source information.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913632"/>
            <a:ext cx="11094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1363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Unavailable product sources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391363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391363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Search/recommendation may fail; system must handle unavailable sources and give clear feedback to users.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11094415" cy="50292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1655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API / location failure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441655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441655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Nearby-store search or directions may fail; system must show an error when an external service is unavailable.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919472"/>
            <a:ext cx="1109441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91947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downtime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491947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491947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temporarily lose access to budget information during outages.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422392"/>
            <a:ext cx="11094415" cy="50292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42239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Savings calculation error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5422392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5422392"/>
            <a:ext cx="63578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incorrect percentage may be set aside; system must validate the selected percentage and test savings/budget calculations together.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72768"/>
            <a:ext cx="11094415" cy="32000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04242" y="157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5398" y="15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85784" y="15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06170" y="157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37500" y="157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89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9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Bonolo Mtyotywa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304242" y="189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65398" y="18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Aug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85784" y="18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Aug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406170" y="189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37500" y="189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221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21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Mohamed Khan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04242" y="221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Context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65398" y="22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85784" y="22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Aug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06170" y="221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737500" y="221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253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53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Salma Vawda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04242" y="253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65398" y="25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Aug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185784" y="25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Aug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406170" y="253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737500" y="253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8640" y="285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85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Nozibusiso Cindi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04242" y="285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65398" y="28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Aug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85784" y="28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Aug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06170" y="285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Days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37500" y="285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" y="317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17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Husain Mosala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304242" y="317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65398" y="31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Aug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185784" y="31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Aug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06170" y="317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737500" y="317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8640" y="349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49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Siphumelele Nombewu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304242" y="349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Existing Challenges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965398" y="34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Aug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185784" y="34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Aug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06170" y="349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737500" y="349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381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381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Ayanda Mkhize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304242" y="381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965398" y="38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Aug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185784" y="38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Aug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406170" y="381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2-3 Days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737500" y="381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48640" y="413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13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Shahid Hoosan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304242" y="413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965398" y="41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Aug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185784" y="41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Aug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406170" y="413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737500" y="413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48640" y="445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445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Simfumene Jiyane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304242" y="445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&amp; User Requirements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965398" y="44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Aug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185784" y="44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Aug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406170" y="445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2-3 Days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737500" y="445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48640" y="477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77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Anelisa Nonxuba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304242" y="477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965398" y="47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Aug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185784" y="477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Aug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406170" y="477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9737500" y="477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48640" y="509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0080" y="509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Bonolo Mtyotywa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304242" y="509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965398" y="50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Aug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185784" y="509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Aug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406170" y="509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737500" y="509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48640" y="541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0080" y="541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Ayanda Mkhize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304242" y="541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Standout Features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965398" y="54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 Aug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185784" y="541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 Aug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406170" y="541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737500" y="541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48640" y="5732768"/>
            <a:ext cx="11094415" cy="320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0080" y="573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Simfumene Jiyane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2304242" y="573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965398" y="57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 Aug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7185784" y="573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Aug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8406170" y="573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Days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9737500" y="573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48640" y="6052768"/>
            <a:ext cx="11094415" cy="320000"/>
          </a:xfrm>
          <a:prstGeom prst="rect">
            <a:avLst/>
          </a:prstGeom>
          <a:solidFill>
            <a:srgbClr val="E7F3F1"/>
          </a:solidFill>
          <a:ln w="7620">
            <a:solidFill>
              <a:srgbClr val="C9E2D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" y="6052768"/>
            <a:ext cx="148128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Siphumelele Nombewu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304242" y="6052768"/>
            <a:ext cx="347827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Management &amp; Mitigation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965398" y="60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Aug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7185784" y="6052768"/>
            <a:ext cx="1037506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Aug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8406170" y="6052768"/>
            <a:ext cx="114845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Day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9737500" y="6052768"/>
            <a:ext cx="18141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BIBLIOGRAPHY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(Harvard Style)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02920" cy="41148"/>
          </a:xfrm>
          <a:prstGeom prst="rect">
            <a:avLst/>
          </a:prstGeom>
          <a:solidFill>
            <a:srgbClr val="E3A9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Le, [Author initials]. (2025) [Full source and publication details to be added].</a:t>
            </a:r>
            <a:endParaRPr lang="en-US" sz="13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Masuku, [Author initials]. (2025) [Full source and publication details to be added].</a:t>
            </a:r>
            <a:endParaRPr lang="en-US" sz="13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Pancholi, [Author initials] et al. (2026) [Full source and publication details to be added].</a:t>
            </a:r>
            <a:endParaRPr lang="en-US" sz="13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Rodríguez-Correa, [Author initials] et al. (2025) [Full source and publication details to be added].</a:t>
            </a:r>
            <a:endParaRPr lang="en-US" sz="13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Xie, [Author initials] et al. (2026) [Full source and publication details to be added].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7F3F1"/>
          </a:solidFill>
          <a:ln w="12700">
            <a:solidFill>
              <a:srgbClr val="C9E2DE"/>
            </a:solidFill>
            <a:prstDash val="solid"/>
          </a:ln>
          <a:effectLst>
            <a:outerShdw sx="100000" sy="100000" kx="0" ky="0" algn="bl" rotWithShape="0" blurRad="101600" dist="25400" dir="5400000">
              <a:srgbClr val="1A3A3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2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needed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30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5 sources were cited by author and year in the submitted literature review, but full publication details (journal/publisher, volume, pages, DOI) were not provided and are not filled in above to avoid inaccurate citations. Complete each entry in full Harvard format and add further sources — the rubric requires a minimum of 10 references.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66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5029200" cy="502920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A9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Shopping for Budgeting and Making Informed Shopping  |  Group Number: ____________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2026-09-01T07:17:30Z</dcterms:created>
  <dcterms:modified xsi:type="dcterms:W3CDTF">2026-09-01T07:17:30Z</dcterms:modified>
</cp:coreProperties>
</file>